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fd62e2415d43ae" /><Relationship Type="http://schemas.openxmlformats.org/officeDocument/2006/relationships/extended-properties" Target="/docProps/app.xml" Id="Rdf0e1b88811c4e54" /><Relationship Type="http://schemas.openxmlformats.org/officeDocument/2006/relationships/officeDocument" Target="/ppt/presentation.xml" Id="R15fd8a36b22c4e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73d1492f44003"/>
  </p:sldMasterIdLst>
  <p:notesMasterIdLst>
    <p:notesMasterId xmlns:r="http://schemas.openxmlformats.org/officeDocument/2006/relationships" r:id="R2f5398ffe10040e0"/>
  </p:notesMasterIdLst>
  <p:sldIdLst>
    <p:sldId xmlns:r="http://schemas.openxmlformats.org/officeDocument/2006/relationships" id="256" r:id="Rc0e50ea399b541a4"/>
    <p:sldId xmlns:r="http://schemas.openxmlformats.org/officeDocument/2006/relationships" id="257" r:id="Re18256b48f6b4ff9"/>
    <p:sldId xmlns:r="http://schemas.openxmlformats.org/officeDocument/2006/relationships" id="258" r:id="Rb4f9f10a2615441c"/>
    <p:sldId xmlns:r="http://schemas.openxmlformats.org/officeDocument/2006/relationships" id="259" r:id="R962cea318deb491b"/>
    <p:sldId xmlns:r="http://schemas.openxmlformats.org/officeDocument/2006/relationships" id="260" r:id="R41a6c85c87ef4657"/>
    <p:sldId xmlns:r="http://schemas.openxmlformats.org/officeDocument/2006/relationships" id="261" r:id="Rf1be73b0ac2745f0"/>
    <p:sldId xmlns:r="http://schemas.openxmlformats.org/officeDocument/2006/relationships" id="262" r:id="Rb29b51b6dcd644cd"/>
    <p:sldId xmlns:r="http://schemas.openxmlformats.org/officeDocument/2006/relationships" id="263" r:id="R3ed04d7506ed46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d2bdbac12947f1" /><Relationship Type="http://schemas.openxmlformats.org/officeDocument/2006/relationships/slideMaster" Target="/ppt/slideMasters/slideMaster1.xml" Id="R18373d1492f44003" /><Relationship Type="http://schemas.openxmlformats.org/officeDocument/2006/relationships/notesMaster" Target="/ppt/notesMasters/notesMaster1.xml" Id="R2f5398ffe10040e0" /><Relationship Type="http://schemas.openxmlformats.org/officeDocument/2006/relationships/presProps" Target="/ppt/presProps.xml" Id="R7358819504ad4d5b" /><Relationship Type="http://schemas.openxmlformats.org/officeDocument/2006/relationships/tableStyles" Target="/ppt/tableStyles.xml" Id="R0f4bb215129041d4" /><Relationship Type="http://schemas.openxmlformats.org/officeDocument/2006/relationships/slide" Target="/ppt/slides/slide1.xml" Id="Rc0e50ea399b541a4" /><Relationship Type="http://schemas.openxmlformats.org/officeDocument/2006/relationships/slide" Target="/ppt/slides/slide2.xml" Id="Re18256b48f6b4ff9" /><Relationship Type="http://schemas.openxmlformats.org/officeDocument/2006/relationships/slide" Target="/ppt/slides/slide3.xml" Id="Rb4f9f10a2615441c" /><Relationship Type="http://schemas.openxmlformats.org/officeDocument/2006/relationships/slide" Target="/ppt/slides/slide4.xml" Id="R962cea318deb491b" /><Relationship Type="http://schemas.openxmlformats.org/officeDocument/2006/relationships/slide" Target="/ppt/slides/slide5.xml" Id="R41a6c85c87ef4657" /><Relationship Type="http://schemas.openxmlformats.org/officeDocument/2006/relationships/slide" Target="/ppt/slides/slide6.xml" Id="Rf1be73b0ac2745f0" /><Relationship Type="http://schemas.openxmlformats.org/officeDocument/2006/relationships/slide" Target="/ppt/slides/slide7.xml" Id="Rb29b51b6dcd644cd" /><Relationship Type="http://schemas.openxmlformats.org/officeDocument/2006/relationships/slide" Target="/ppt/slides/slide8.xml" Id="R3ed04d7506ed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0336fda46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ee1b0706004f80" /><Relationship Type="http://schemas.openxmlformats.org/officeDocument/2006/relationships/notesMaster" Target="/ppt/notesMasters/notesMaster1.xml" Id="R21ba613929db49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79383096241ad" /><Relationship Type="http://schemas.openxmlformats.org/officeDocument/2006/relationships/notesMaster" Target="/ppt/notesMasters/notesMaster1.xml" Id="R55a9aafbf1e941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0b44368f0a40d6" /><Relationship Type="http://schemas.openxmlformats.org/officeDocument/2006/relationships/notesMaster" Target="/ppt/notesMasters/notesMaster1.xml" Id="R93607db9b3b248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13490314ae4768" /><Relationship Type="http://schemas.openxmlformats.org/officeDocument/2006/relationships/notesMaster" Target="/ppt/notesMasters/notesMaster1.xml" Id="Rc76dc3b83093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da05cc81e457a" /><Relationship Type="http://schemas.openxmlformats.org/officeDocument/2006/relationships/notesMaster" Target="/ppt/notesMasters/notesMaster1.xml" Id="R7a60dee7423f44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571ef7a7a4a42" /><Relationship Type="http://schemas.openxmlformats.org/officeDocument/2006/relationships/notesMaster" Target="/ppt/notesMasters/notesMaster1.xml" Id="Rfa25b6f64a9d4b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8ab66b09f4882" /><Relationship Type="http://schemas.openxmlformats.org/officeDocument/2006/relationships/notesMaster" Target="/ppt/notesMasters/notesMaster1.xml" Id="R0fb8754c0d8f42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ccbcadf134496f" /><Relationship Type="http://schemas.openxmlformats.org/officeDocument/2006/relationships/notesMaster" Target="/ppt/notesMasters/notesMaster1.xml" Id="R001da777711b43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guía del proyecto AC-2006-I proporcionado por el curso. Imagen: asset local creado para FisioCare.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OMS, Rehabilitación: https://www.who.int/es/news-room/fact-sheets/detail/rehabilitation</a:t>
            </a:r>
          </a:p>
          <a:p xmlns:a="http://schemas.openxmlformats.org/drawingml/2006/main">
            <a:r>
              <a:t>[2] Plan de Proyecto de Investigación Aplicada del curso.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Arquitectura y flujo derivados del código fuente de FisioCare y del alcance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Spring Boot Reference Documentation: https://docs.spring.io/spring-boot/reference/</a:t>
            </a:r>
          </a:p>
          <a:p xmlns:a="http://schemas.openxmlformats.org/drawingml/2006/main">
            <a:r>
              <a:t>Angular Documentation: https://angular.dev/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 de Proyecto de Investigación Aplicada, sección 4 y rúbrica 9.1. Endpoints verificados en ReservationController y BookingServiceController.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Ley N.° 29733, Ley de Protección de Datos Personales: https://www.gob.pe/institucion/congreso-de-la-republica/normas-legales/243470-29733</a:t>
            </a:r>
          </a:p>
          <a:p xmlns:a="http://schemas.openxmlformats.org/drawingml/2006/main">
            <a:r>
              <a:t>Spring Security Reference: https://docs.spring.io/spring-security/reference/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Guion de demo estructurado según el entregable de video de 3 a 5 minutos indicado por 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Conclusiones elaboradas a partir del alcance, implementación y rúbrica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35e17c70b4c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0cb7663aea402c" /><Relationship Type="http://schemas.openxmlformats.org/officeDocument/2006/relationships/slideLayout" Target="/ppt/slideLayouts/slideLayout1.xml" Id="R93a1c59c756244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1c59c756244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bd34f21a448be" /><Relationship Type="http://schemas.openxmlformats.org/officeDocument/2006/relationships/image" Target="/ppt/media/image.png" Id="R899f3c35fe3e4b7b" /><Relationship Type="http://schemas.openxmlformats.org/officeDocument/2006/relationships/notesSlide" Target="/ppt/notesSlides/notesSlide1.xml" Id="R1e916a50054c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37da563dd484e" /><Relationship Type="http://schemas.openxmlformats.org/officeDocument/2006/relationships/notesSlide" Target="/ppt/notesSlides/notesSlide2.xml" Id="Ra92d6a3887e14b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8e21cf804c6e" /><Relationship Type="http://schemas.openxmlformats.org/officeDocument/2006/relationships/notesSlide" Target="/ppt/notesSlides/notesSlide3.xml" Id="R11816c3c822041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69cfb58734d7b" /><Relationship Type="http://schemas.openxmlformats.org/officeDocument/2006/relationships/notesSlide" Target="/ppt/notesSlides/notesSlide4.xml" Id="R53bb95c366114d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f850617524380" /><Relationship Type="http://schemas.openxmlformats.org/officeDocument/2006/relationships/notesSlide" Target="/ppt/notesSlides/notesSlide5.xml" Id="R9ab830e23cb4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a3a91c4854873" /><Relationship Type="http://schemas.openxmlformats.org/officeDocument/2006/relationships/notesSlide" Target="/ppt/notesSlides/notesSlide6.xml" Id="R68562dcb8a8e42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0cf472e746cb" /><Relationship Type="http://schemas.openxmlformats.org/officeDocument/2006/relationships/notesSlide" Target="/ppt/notesSlides/notesSlide7.xml" Id="R557e63278d4e48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99aafa61a403e" /><Relationship Type="http://schemas.openxmlformats.org/officeDocument/2006/relationships/notesSlide" Target="/ppt/notesSlides/notesSlide8.xml" Id="Rc0bf125cdb06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DC7D5-6AC1-4701-B349-2F9791CF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92469-D64E-4A1E-A4FE-4B369DF2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D7080-47FB-46E5-9106-8686E7D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1747A"/>
                </a:solidFill>
              </a:defRPr>
            </a:pPr>
            <a:r>
              <a:rPr sz="1125" b="1" i="0">
                <a:solidFill>
                  <a:srgbClr val="21747A"/>
                </a:solidFill>
              </a:rPr>
              <a:t>PROYECTO DE INVESTIGACIÓN APLICADA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3E865-A055-4130-872F-6C513888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1F3A5F"/>
                </a:solidFill>
              </a:defRPr>
            </a:pPr>
            <a:r>
              <a:rPr sz="4800" b="1" i="0">
                <a:solidFill>
                  <a:srgbClr val="1F3A5F"/>
                </a:solidFill>
              </a:rPr>
              <a:t>FisioCare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886AF-86D9-4A1C-B746-8C1B042F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48B"/>
                </a:solidFill>
              </a:defRPr>
            </a:pPr>
            <a:r>
              <a:rPr sz="1875" b="0" i="0">
                <a:solidFill>
                  <a:srgbClr val="64748B"/>
                </a:solidFill>
              </a:rPr>
              <a:t>Reservas de fisioterapia con atención más clara, segura y organizada.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67CCC-5A41-4CFC-9D12-A5F607CB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762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5AE53-E2F4-40B6-A80D-0D19733B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53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3A5F"/>
                </a:solidFill>
              </a:defRPr>
            </a:pPr>
            <a:r>
              <a:rPr sz="1050" b="1" i="0">
                <a:solidFill>
                  <a:srgbClr val="1F3A5F"/>
                </a:solidFill>
              </a:rPr>
              <a:t>Spring Boot  ·  Angular  ·  PostgreSQL  · 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FC622-2533-4FF4-8CE2-F9ADC48A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Desarrollo de Aplicaciones Web I (4694)</a:t>
            </a:r>
          </a:p>
          <a:p xmlns:a="http://schemas.openxmlformats.org/drawingml/2006/main">
            <a:pPr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Cibertec · 2026-I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f3c35fe3e4b7b"/>
          <a:srcRect xmlns:a="http://schemas.openxmlformats.org/drawingml/2006/main" l="17460" t="0" r="174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190625"/>
            <a:ext cx="3905250" cy="400050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59B3E-0BFE-4169-B718-0E754DE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558064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B03E7-690F-437D-8B83-9B22FA22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1747A"/>
                </a:solidFill>
              </a:defRPr>
            </a:pPr>
            <a:r>
              <a:rPr sz="1050" b="1" i="0">
                <a:solidFill>
                  <a:srgbClr val="21747A"/>
                </a:solidFill>
              </a:rPr>
              <a:t>01 ·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0E3C1-623D-4133-B9AD-3CFF13D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F3A5F"/>
                </a:solidFill>
              </a:defRPr>
            </a:pPr>
            <a:r>
              <a:rPr sz="2850" b="1" i="0">
                <a:solidFill>
                  <a:srgbClr val="1F3A5F"/>
                </a:solidFill>
              </a:rPr>
              <a:t>La agenda manual deja información dispersa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F281F-F48F-4C00-8496-F687C965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La oportunidad es convertir una solicitud informal en un proceso trazable.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76261-598F-4EA9-964D-A9D9FC9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E9075-BCE9-4A28-83E0-04D23D99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3A5F"/>
                </a:solidFill>
              </a:defRPr>
            </a:pPr>
            <a:r>
              <a:rPr sz="1800" b="1" i="0">
                <a:solidFill>
                  <a:srgbClr val="1F3A5F"/>
                </a:solidFill>
              </a:rPr>
              <a:t>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137E9-4BD5-4F05-A5A5-A61526DF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807DB-63EE-4DB9-B76E-7D0542A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Mensajes y llamadas aisladas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4C5FB-0FAD-4D9D-8B09-7AA3C7A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CB738-963C-49B4-BA88-46EDBA8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Confirmaciones manuales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C1660-1A3E-40BC-80A0-D3BCA765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0F5A1-0EBE-4420-BCD2-E42465F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81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Poca visibilidad del estado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5F850-DDE6-456E-882E-8E8B757E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86125"/>
            <a:ext cx="114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1CE26-7C94-49D5-8711-6F91C637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0425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48D10-7387-4E09-85D0-230C6242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5048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D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E5A28-464E-40F5-BA2A-42CC6F1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3A5F"/>
                </a:solidFill>
              </a:defRPr>
            </a:pPr>
            <a:r>
              <a:rPr sz="1800" b="1" i="0">
                <a:solidFill>
                  <a:srgbClr val="1F3A5F"/>
                </a:solidFill>
              </a:rPr>
              <a:t>Con FisioCare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88726-DBCB-48A9-84CE-94825EE6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4872C-C740-431A-92F8-9F616EA7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Reserva en pocos pasos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F58C7-E19A-401E-A4A1-50BCD6D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DC75B-B8F8-4CF5-8B50-78302B1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Estados: pendiente, confirmada o cancelada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C846F-32D2-465E-B7D7-7D1E43E1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E0B30-6334-4DAF-B8C5-D08A20C8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Panel de gestión para el administrador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F9461-F225-4308-8F12-A30757E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177445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CF4BC-4D62-411A-A13A-B8616326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1747A"/>
                </a:solidFill>
              </a:defRPr>
            </a:pPr>
            <a:r>
              <a:rPr sz="1050" b="1" i="0">
                <a:solidFill>
                  <a:srgbClr val="21747A"/>
                </a:solidFill>
              </a:rPr>
              <a:t>02 ·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FF1AA-2009-417E-A50B-9EE0107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F3A5F"/>
                </a:solidFill>
              </a:defRPr>
            </a:pPr>
            <a:r>
              <a:rPr sz="2850" b="1" i="0">
                <a:solidFill>
                  <a:srgbClr val="1F3A5F"/>
                </a:solidFill>
              </a:rPr>
              <a:t>Un flujo simple conecta paciente, agenda y administración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F310-566C-45B3-94DF-074D5B34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Cada paso produce un registro persistido en la base de datos.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3F71-1B0B-469C-8973-CF9F7753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21336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B11D1-4D5F-4CA6-B208-1FE7A66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1747A"/>
                </a:solidFill>
              </a:defRPr>
            </a:pPr>
            <a:r>
              <a:rPr sz="2250" b="1" i="0">
                <a:solidFill>
                  <a:srgbClr val="21747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E99AA-7EA3-4970-B865-AA587E0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F3A5F"/>
                </a:solidFill>
              </a:defRPr>
            </a:pPr>
            <a:r>
              <a:rPr sz="1650" b="1" i="0">
                <a:solidFill>
                  <a:srgbClr val="1F3A5F"/>
                </a:solidFill>
              </a:rPr>
              <a:t>Descubre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62DA0-2A56-4D1E-AEFD-539ED76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Landing con servicios y propuesta de valor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ED6DB-E872-4614-A443-E4605609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528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1747A"/>
                </a:solidFill>
              </a:defRPr>
            </a:pPr>
            <a:r>
              <a:rPr sz="2100" b="1" i="0">
                <a:solidFill>
                  <a:srgbClr val="2174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2C06C-D005-4A8C-B4EB-F1CBDAD3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05100"/>
            <a:ext cx="2095500" cy="21336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AACF1-2624-4A7D-9C04-ACBAF95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41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1747A"/>
                </a:solidFill>
              </a:defRPr>
            </a:pPr>
            <a:r>
              <a:rPr sz="2250" b="1" i="0">
                <a:solidFill>
                  <a:srgbClr val="21747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75AF9-417D-4A4F-B0F8-67BC6D28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F3A5F"/>
                </a:solidFill>
              </a:defRPr>
            </a:pPr>
            <a:r>
              <a:rPr sz="1650" b="1" i="0">
                <a:solidFill>
                  <a:srgbClr val="1F3A5F"/>
                </a:solidFill>
              </a:rPr>
              <a:t>Reserva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B4006-D2C0-43EB-BD17-582877D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0050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Paciente selecciona servicio, fecha y hora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AAA38-8414-464A-9828-A8AC08C0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528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1747A"/>
                </a:solidFill>
              </a:defRPr>
            </a:pPr>
            <a:r>
              <a:rPr sz="2100" b="1" i="0">
                <a:solidFill>
                  <a:srgbClr val="2174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716B6-4A70-46CE-A119-B785AEF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2095500" cy="21336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D9059-A8C9-4BA9-BFBC-EB44C66A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535AF-F80E-4996-9122-CBCDAF24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Gestiona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C3B89-FEDF-4471-A6B6-D17E322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CE8F2"/>
                </a:solidFill>
              </a:defRPr>
            </a:pPr>
            <a:r>
              <a:rPr sz="1200" b="0" i="0">
                <a:solidFill>
                  <a:srgbClr val="DCE8F2"/>
                </a:solidFill>
              </a:rPr>
              <a:t>Admin confirma, rechaza, cancela o elimina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366D0-9ABE-4811-9933-AA1F36E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528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1747A"/>
                </a:solidFill>
              </a:defRPr>
            </a:pPr>
            <a:r>
              <a:rPr sz="2100" b="1" i="0">
                <a:solidFill>
                  <a:srgbClr val="21747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22701-F1D2-42E3-90EA-FE20E1B7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05100"/>
            <a:ext cx="2095500" cy="21336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CDD5B-B6EE-4722-A312-3C774150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241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1747A"/>
                </a:solidFill>
              </a:defRPr>
            </a:pPr>
            <a:r>
              <a:rPr sz="2250" b="1" i="0">
                <a:solidFill>
                  <a:srgbClr val="21747A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7592A-AFC1-42A0-A798-F5D500F4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F3A5F"/>
                </a:solidFill>
              </a:defRPr>
            </a:pPr>
            <a:r>
              <a:rPr sz="1650" b="1" i="0">
                <a:solidFill>
                  <a:srgbClr val="1F3A5F"/>
                </a:solidFill>
              </a:rPr>
              <a:t>Acompaña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97C47-C307-4C90-8A24-CA63DCB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Paciente consulta el estado en Mi cuenta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8AE26-5B9C-4E7C-8F91-3C59334B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849852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6B504-7183-4402-8A16-41BEFFCF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1747A"/>
                </a:solidFill>
              </a:defRPr>
            </a:pPr>
            <a:r>
              <a:rPr sz="1050" b="1" i="0">
                <a:solidFill>
                  <a:srgbClr val="21747A"/>
                </a:solidFill>
              </a:rPr>
              <a:t>03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67889-4024-416F-88E7-A43FCD89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F3A5F"/>
                </a:solidFill>
              </a:defRPr>
            </a:pPr>
            <a:r>
              <a:rPr sz="2850" b="1" i="0">
                <a:solidFill>
                  <a:srgbClr val="1F3A5F"/>
                </a:solidFill>
              </a:rPr>
              <a:t>La solución separa responsabilidades para crecer con orden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F9F23-D3BC-4778-817B-041D73F4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Angular consume la API REST; Spring aplica reglas y seguridad; PostgreSQL persiste.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40BA1-F004-4952-BD02-527355F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781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D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1E751-BEE2-4674-A580-EB4E8BDD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3A5F"/>
                </a:solidFill>
              </a:defRPr>
            </a:pPr>
            <a:r>
              <a:rPr sz="1800" b="1" i="0">
                <a:solidFill>
                  <a:srgbClr val="1F3A5F"/>
                </a:solidFill>
              </a:rPr>
              <a:t>Angular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EA70A-1544-45B9-9626-D26B99F3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765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Landing · Auth · Reserva · Mi cuenta ·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A4CD0-204D-42A4-B245-4C4964D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1747A"/>
                </a:solidFill>
              </a:defRPr>
            </a:pPr>
            <a:r>
              <a:rPr sz="1875" b="1" i="0">
                <a:solidFill>
                  <a:srgbClr val="21747A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6A26E-25B7-4D48-A1CD-25DC1C0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81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1666B-17C9-4101-8D62-E19E1EB0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480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3A5F"/>
                </a:solidFill>
              </a:defRPr>
            </a:pPr>
            <a:r>
              <a:rPr sz="1800" b="1" i="0">
                <a:solidFill>
                  <a:srgbClr val="1F3A5F"/>
                </a:solidFill>
              </a:rPr>
              <a:t>Spring Boot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92E6F-6CF2-4479-A70F-9098FF1A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REST · Validaciones · JWT · Roles · OAuth2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484A0-0862-4502-989C-387F376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95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1747A"/>
                </a:solidFill>
              </a:defRPr>
            </a:pPr>
            <a:r>
              <a:rPr sz="1875" b="1" i="0">
                <a:solidFill>
                  <a:srgbClr val="21747A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95C5F-4FBC-4B55-9C69-706174C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781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A9A46-8AEF-4E2E-B27D-84EFAE2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1CD08-B428-44B0-A8DA-F8C377C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767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8F0F7"/>
                </a:solidFill>
              </a:defRPr>
            </a:pPr>
            <a:r>
              <a:rPr sz="1350" b="0" i="0">
                <a:solidFill>
                  <a:srgbClr val="E8F0F7"/>
                </a:solidFill>
              </a:rPr>
              <a:t>Usuarios · Servicios · Reservas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27D2F-DE86-449D-8E3D-637C224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619250" cy="27241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2B018-637E-4C83-B134-36210927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718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F3A5F"/>
                </a:solidFill>
              </a:defRPr>
            </a:pPr>
            <a:r>
              <a:rPr sz="1875" b="1" i="0">
                <a:solidFill>
                  <a:srgbClr val="1F3A5F"/>
                </a:solidFill>
              </a:rPr>
              <a:t>Docker</a:t>
            </a:r>
          </a:p>
          <a:p xmlns:a="http://schemas.openxmlformats.org/drawingml/2006/main">
            <a:pPr>
              <a:defRPr sz="1875" b="1" i="0">
                <a:solidFill>
                  <a:srgbClr val="1F3A5F"/>
                </a:solidFill>
              </a:defRPr>
            </a:pPr>
            <a:r>
              <a:rPr sz="1875" b="1" i="0">
                <a:solidFill>
                  <a:srgbClr val="1F3A5F"/>
                </a:solidFill>
              </a:rPr>
              <a:t>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DB61B-91C5-4AE4-820C-9BC01F91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528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1747A"/>
                </a:solidFill>
              </a:defRPr>
            </a:pPr>
            <a:r>
              <a:rPr sz="1275" b="0" i="0">
                <a:solidFill>
                  <a:srgbClr val="21747A"/>
                </a:solidFill>
              </a:rPr>
              <a:t>frontend</a:t>
            </a:r>
          </a:p>
          <a:p xmlns:a="http://schemas.openxmlformats.org/drawingml/2006/main">
            <a:pPr>
              <a:defRPr sz="1275" b="0" i="0">
                <a:solidFill>
                  <a:srgbClr val="21747A"/>
                </a:solidFill>
              </a:defRPr>
            </a:pPr>
            <a:r>
              <a:rPr sz="1275" b="0" i="0">
                <a:solidFill>
                  <a:srgbClr val="21747A"/>
                </a:solidFill>
              </a:rPr>
              <a:t>backend</a:t>
            </a:r>
          </a:p>
          <a:p xmlns:a="http://schemas.openxmlformats.org/drawingml/2006/main">
            <a:pPr>
              <a:defRPr sz="1275" b="0" i="0">
                <a:solidFill>
                  <a:srgbClr val="21747A"/>
                </a:solidFill>
              </a:defRPr>
            </a:pPr>
            <a:r>
              <a:rPr sz="1275" b="0" i="0">
                <a:solidFill>
                  <a:srgbClr val="21747A"/>
                </a:solidFill>
              </a:rPr>
              <a:t>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548B9-59AE-4C1D-A9D3-0D7BDFC9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382719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3C93F-28E9-43F3-87FD-9F3A2971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1747A"/>
                </a:solidFill>
              </a:defRPr>
            </a:pPr>
            <a:r>
              <a:rPr sz="1050" b="1" i="0">
                <a:solidFill>
                  <a:srgbClr val="21747A"/>
                </a:solidFill>
              </a:rPr>
              <a:t>04 · REST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24884-94D3-441E-8EEF-1C0B691D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F3A5F"/>
                </a:solidFill>
              </a:defRPr>
            </a:pPr>
            <a:r>
              <a:rPr sz="2850" b="1" i="0">
                <a:solidFill>
                  <a:srgbClr val="1F3A5F"/>
                </a:solidFill>
              </a:rPr>
              <a:t>El CRUD completo cumple la especificación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EE3E7-2252-434C-A91F-3A18DDF9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FisioCare implementa GET, POST, PUT y DELETE sobre recursos persistidos.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9DD01-0F2C-4C7C-AFF0-309D4D7C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057275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79293-339E-44BA-BF7E-469FDE5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1747A"/>
                </a:solidFill>
              </a:defRPr>
            </a:pPr>
            <a:r>
              <a:rPr sz="1200" b="1" i="0">
                <a:solidFill>
                  <a:srgbClr val="21747A"/>
                </a:solidFill>
              </a:rPr>
              <a:t>Método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B1CE7-76AD-49AF-8ACC-529C971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1747A"/>
                </a:solidFill>
              </a:defRPr>
            </a:pPr>
            <a:r>
              <a:rPr sz="1200" b="1" i="0">
                <a:solidFill>
                  <a:srgbClr val="21747A"/>
                </a:solidFill>
              </a:rPr>
              <a:t>Endpoint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2095-3D3B-4CC4-B804-4C46DB0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1747A"/>
                </a:solidFill>
              </a:defRPr>
            </a:pPr>
            <a:r>
              <a:rPr sz="1200" b="1" i="0">
                <a:solidFill>
                  <a:srgbClr val="21747A"/>
                </a:solidFill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CA778-3E43-4823-805B-49096111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E7A9E-F8D2-4F93-A3C0-23A50610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F3A5F"/>
                </a:solidFill>
              </a:defRPr>
            </a:pPr>
            <a:r>
              <a:rPr sz="1350" b="1" i="0">
                <a:solidFill>
                  <a:srgbClr val="1F3A5F"/>
                </a:solidFill>
              </a:rPr>
              <a:t>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B6A4C-B1C7-46D9-9FD7-E7EC9AA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/api/services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C0703-94CB-4531-A78C-3DC6B7C2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Listar catálogo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1F29F-CDED-4854-8C72-CD9C9A64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F3A5F"/>
                </a:solidFill>
              </a:defRPr>
            </a:pPr>
            <a:r>
              <a:rPr sz="1350" b="1" i="0">
                <a:solidFill>
                  <a:srgbClr val="1F3A5F"/>
                </a:solidFill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943E5-C75C-42AC-85B5-19E6A96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/api/reservations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A6B66-C024-414E-9396-D0CD1A0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Crear reserva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B508B-5AD6-4950-8976-599782AF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51C2A-0BFE-4441-AFF2-93A485E7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F3A5F"/>
                </a:solidFill>
              </a:defRPr>
            </a:pPr>
            <a:r>
              <a:rPr sz="1350" b="1" i="0">
                <a:solidFill>
                  <a:srgbClr val="1F3A5F"/>
                </a:solidFill>
              </a:rPr>
              <a:t>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61BEF-F74B-4ADB-B616-0E66667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/api/services/{id}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CACF1-4E53-42C9-AB5E-3F325F9D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Editar servicio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D4AC0-3725-40A6-A98A-8EEF14E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F3A5F"/>
                </a:solidFill>
              </a:defRPr>
            </a:pPr>
            <a:r>
              <a:rPr sz="1350" b="1" i="0">
                <a:solidFill>
                  <a:srgbClr val="1F3A5F"/>
                </a:solidFill>
              </a:rPr>
              <a:t>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1F1A4-1569-4F6E-9800-713CD3CB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/api/reservations/{id}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CA14A-868F-43BC-8714-F4DADAC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Reprogramar reserva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CFA2E-60BF-486E-A2C0-ACE195E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70108-B91B-450E-9F88-3762D1C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F3A5F"/>
                </a:solidFill>
              </a:defRPr>
            </a:pPr>
            <a:r>
              <a:rPr sz="1350" b="1" i="0">
                <a:solidFill>
                  <a:srgbClr val="1F3A5F"/>
                </a:solidFill>
              </a:rPr>
              <a:t>DELETE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11D09-5B79-450D-B621-CEA35F5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B2545"/>
                </a:solidFill>
              </a:defRPr>
            </a:pPr>
            <a:r>
              <a:rPr sz="1350" b="0" i="0">
                <a:solidFill>
                  <a:srgbClr val="0B2545"/>
                </a:solidFill>
              </a:rPr>
              <a:t>/api/reservations/{id}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B38B4-3242-4391-9D24-CF30E3AC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Eliminar reserva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0D4ED-145B-49C3-AB5D-FB5E5F3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1514390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95AD9-0F2C-406A-9A6F-4B2E461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1747A"/>
                </a:solidFill>
              </a:defRPr>
            </a:pPr>
            <a:r>
              <a:rPr sz="1050" b="1" i="0">
                <a:solidFill>
                  <a:srgbClr val="21747A"/>
                </a:solidFill>
              </a:rPr>
              <a:t>05 ·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0B5C8-B0BD-400C-A2B9-D5030C0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F3A5F"/>
                </a:solidFill>
              </a:defRPr>
            </a:pPr>
            <a:r>
              <a:rPr sz="2850" b="1" i="0">
                <a:solidFill>
                  <a:srgbClr val="1F3A5F"/>
                </a:solidFill>
              </a:rPr>
              <a:t>La autenticación combina control local y Google opcional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7039F-2DE6-4EA2-91A9-732FE4FE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Las contraseñas no se guardan en texto plano y cada rol ve las operaciones que necesita.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A5603-3BCC-4929-ACC8-1159A598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C2914-2D8D-4A7C-8FFD-FEAE9FFE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3A5F"/>
                </a:solidFill>
              </a:defRPr>
            </a:pPr>
            <a:r>
              <a:rPr sz="2100" b="1" i="0">
                <a:solidFill>
                  <a:srgbClr val="1F3A5F"/>
                </a:solidFill>
              </a:rPr>
              <a:t>BCrypt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52D59-3C78-4AB0-BE0A-95B79F0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Hash de contraseñas</a:t>
            </a:r>
          </a:p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en la base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732FD-AD9F-41A8-B9CA-E0F2FD3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15BB3-79D9-4930-970D-E0D8D8DE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F3A5F"/>
                </a:solidFill>
              </a:defRPr>
            </a:pPr>
            <a:r>
              <a:rPr sz="2100" b="1" i="0">
                <a:solidFill>
                  <a:srgbClr val="1F3A5F"/>
                </a:solidFill>
              </a:rPr>
              <a:t>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D8A64-6FBF-44A0-AE2D-64B4AF92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Sesión stateless</a:t>
            </a:r>
          </a:p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y autorización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B239E-CC2A-48C1-8220-8588F029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E3BAC-F23A-4B68-9172-5086A5C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OAuth2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116F4-BB33-4051-AA0E-7BC90A32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DE8F2"/>
                </a:solidFill>
              </a:defRPr>
            </a:pPr>
            <a:r>
              <a:rPr sz="1425" b="0" i="0">
                <a:solidFill>
                  <a:srgbClr val="DDE8F2"/>
                </a:solidFill>
              </a:rPr>
              <a:t>Continuar con Google</a:t>
            </a:r>
          </a:p>
          <a:p xmlns:a="http://schemas.openxmlformats.org/drawingml/2006/main">
            <a:pPr>
              <a:defRPr sz="1425" b="0" i="0">
                <a:solidFill>
                  <a:srgbClr val="DDE8F2"/>
                </a:solidFill>
              </a:defRPr>
            </a:pPr>
            <a:r>
              <a:rPr sz="1425" b="0" i="0">
                <a:solidFill>
                  <a:srgbClr val="DDE8F2"/>
                </a:solidFill>
              </a:rPr>
              <a:t>como alternativa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00EB1-DA7A-482B-B7CD-2FD5C5A5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2952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29780-479B-4C63-AB67-A86BAD89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959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3A5F"/>
                </a:solidFill>
              </a:defRPr>
            </a:pPr>
            <a:r>
              <a:rPr sz="1050" b="1" i="0">
                <a:solidFill>
                  <a:srgbClr val="1F3A5F"/>
                </a:solidFill>
              </a:rPr>
              <a:t>CUSTOMER  →  reserva y consulta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BAD89-7F22-4CE6-BECE-AB79C84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19700"/>
            <a:ext cx="2952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12D42-37EE-4289-844F-00E07F7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959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3A5F"/>
                </a:solidFill>
              </a:defRPr>
            </a:pPr>
            <a:r>
              <a:rPr sz="1050" b="1" i="0">
                <a:solidFill>
                  <a:srgbClr val="1F3A5F"/>
                </a:solidFill>
              </a:rPr>
              <a:t>ADMIN  →  gestiona agenda y catálogo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66B6E-9390-40C3-9486-37C860AB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825908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12826-C617-4ECC-90F2-840D28A7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1747A"/>
                </a:solidFill>
              </a:defRPr>
            </a:pPr>
            <a:r>
              <a:rPr sz="1050" b="1" i="0">
                <a:solidFill>
                  <a:srgbClr val="21747A"/>
                </a:solidFill>
              </a:rPr>
              <a:t>06 ·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C8F13-8B8D-4294-822A-015E308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F3A5F"/>
                </a:solidFill>
              </a:defRPr>
            </a:pPr>
            <a:r>
              <a:rPr sz="2850" b="1" i="0">
                <a:solidFill>
                  <a:srgbClr val="1F3A5F"/>
                </a:solidFill>
              </a:rPr>
              <a:t>La sustentación puede seguir un recorrido de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16D60-F36C-4ED5-9857-8783AC30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El demo debe mostrar el resultado visible y luego la evidencia técnica que lo hace posible.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AA28E-FB9C-4C3C-928B-F003710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1747A"/>
                </a:solidFill>
              </a:defRPr>
            </a:pPr>
            <a:r>
              <a:rPr sz="1650" b="1" i="0">
                <a:solidFill>
                  <a:srgbClr val="21747A"/>
                </a:solidFill>
              </a:rPr>
              <a:t>00:00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358AD-A798-4812-AA20-C806D3A8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0300"/>
            <a:ext cx="8096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9B9A4-D4A2-4ADA-B259-D62EAE1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24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3A5F"/>
                </a:solidFill>
              </a:defRPr>
            </a:pPr>
            <a:r>
              <a:rPr sz="1500" b="1" i="0">
                <a:solidFill>
                  <a:srgbClr val="1F3A5F"/>
                </a:solidFill>
              </a:rPr>
              <a:t>Landing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B4076-A9B4-4199-89CC-C96334A2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431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Propuesta de valor, servicios y Reservar cita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FA0C3-05A3-40E4-8361-F81156AC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1747A"/>
                </a:solidFill>
              </a:defRPr>
            </a:pPr>
            <a:r>
              <a:rPr sz="1650" b="1" i="0">
                <a:solidFill>
                  <a:srgbClr val="21747A"/>
                </a:solidFill>
              </a:rPr>
              <a:t>00:40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02680-C314-4712-B48D-CA0B3327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8096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61E61-73DF-4F07-B6B5-A1E444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67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3A5F"/>
                </a:solidFill>
              </a:defRPr>
            </a:pPr>
            <a:r>
              <a:rPr sz="1500" b="1" i="0">
                <a:solidFill>
                  <a:srgbClr val="1F3A5F"/>
                </a:solidFill>
              </a:rPr>
              <a:t>Paciente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FFB51-9E4F-45BE-A810-21102605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Registro/login, reserva y Mi cuenta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773A3-2C5A-410C-91D4-D28C809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1747A"/>
                </a:solidFill>
              </a:defRPr>
            </a:pPr>
            <a:r>
              <a:rPr sz="1650" b="1" i="0">
                <a:solidFill>
                  <a:srgbClr val="21747A"/>
                </a:solidFill>
              </a:rPr>
              <a:t>02:00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AC4AC-5804-42BA-8EB2-1C673899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8096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9F583-81AF-4ED8-840C-A28DD440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3A5F"/>
                </a:solidFill>
              </a:defRPr>
            </a:pPr>
            <a:r>
              <a:rPr sz="1500" b="1" i="0">
                <a:solidFill>
                  <a:srgbClr val="1F3A5F"/>
                </a:solidFill>
              </a:rPr>
              <a:t>Administrador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BCDAD-E5D3-4E4F-8429-E88C9D7B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Confirmar, rechazar, eliminar y editar servicio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56840-545D-40BE-8D95-D46A0A7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1747A"/>
                </a:solidFill>
              </a:defRPr>
            </a:pPr>
            <a:r>
              <a:rPr sz="1650" b="1" i="0">
                <a:solidFill>
                  <a:srgbClr val="21747A"/>
                </a:solidFill>
              </a:rPr>
              <a:t>03:20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0AB05-C3C3-414F-9EAC-3280C53D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29150"/>
            <a:ext cx="8096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3E8A9-3946-49E2-868F-8EEA5286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52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3A5F"/>
                </a:solidFill>
              </a:defRPr>
            </a:pPr>
            <a:r>
              <a:rPr sz="1500" b="1" i="0">
                <a:solidFill>
                  <a:srgbClr val="1F3A5F"/>
                </a:solidFill>
              </a:rPr>
              <a:t>Técnico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9FA26-8A99-4D48-A46B-8BFB481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7202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Docker, endpoints REST, PostgreSQL y pruebas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682AE-63F2-4C5D-840F-95FEE110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7</a:t>
            </a:r>
          </a:p>
        </p:txBody>
      </p:sp>
    </p:spTree>
    <p:extLst>
      <p:ext uri="{BB962C8B-B14F-4D97-AF65-F5344CB8AC3E}">
        <p14:creationId xmlns:p14="http://schemas.microsoft.com/office/powerpoint/2010/main" val="1676432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87299-151A-4C48-BDAA-8B28A36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E4EF"/>
                </a:solidFill>
              </a:defRPr>
            </a:pPr>
            <a:r>
              <a:rPr sz="1200" b="1" i="0">
                <a:solidFill>
                  <a:srgbClr val="A9E4EF"/>
                </a:solidFill>
              </a:rPr>
              <a:t>FISIOCARE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7776D-C393-4011-BFFF-58B8F26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Una agenda más clara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para cuidar el movimiento.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C7EAF-6D9F-49B1-9CAA-517E8DEE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DCE8F2"/>
                </a:solidFill>
              </a:defRPr>
            </a:pPr>
            <a:r>
              <a:rPr sz="1725" b="0" i="0">
                <a:solidFill>
                  <a:srgbClr val="DCE8F2"/>
                </a:solidFill>
              </a:rPr>
              <a:t>La base técnica ya está lista: REST completo, seguridad, pruebas, Docker y una experiencia de reserva pensada para paciente y administrador.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63E17-9339-4DC3-B563-40907D85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17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6A097-6118-4378-A88F-2F0B5640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GET</a:t>
            </a:r>
          </a:p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POST</a:t>
            </a:r>
          </a:p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PUT</a:t>
            </a:r>
          </a:p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C1CE4-7EF4-4AED-8080-6E3D6EF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429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74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2E8D2-A0FA-413B-8AD2-CB7843AB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520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Siguiente paso: desplegar con HTTPS y variables seguras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4C5FE-D87E-4FEC-9994-1F39128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FisioCare  ·  Desarrollo de Aplicaciones Web I   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1614223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2026-08-19T18:43:08.7030000Z</dcterms:created>
  <dcterms:modified xsi:type="dcterms:W3CDTF">2026-08-19T18:43:08.7030000Z</dcterms:modified>
</coreProperties>
</file>